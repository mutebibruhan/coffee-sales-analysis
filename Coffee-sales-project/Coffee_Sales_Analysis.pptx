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ham ." userId="2e47c01609e708b3" providerId="LiveId" clId="{F2BB2195-8DFB-458B-861D-1FBA3D9D303E}"/>
    <pc:docChg chg="modSld">
      <pc:chgData name="Aarham ." userId="2e47c01609e708b3" providerId="LiveId" clId="{F2BB2195-8DFB-458B-861D-1FBA3D9D303E}" dt="2026-05-20T14:24:02.237" v="37" actId="20577"/>
      <pc:docMkLst>
        <pc:docMk/>
      </pc:docMkLst>
      <pc:sldChg chg="modSp mod">
        <pc:chgData name="Aarham ." userId="2e47c01609e708b3" providerId="LiveId" clId="{F2BB2195-8DFB-458B-861D-1FBA3D9D303E}" dt="2026-05-20T14:24:02.237" v="37" actId="20577"/>
        <pc:sldMkLst>
          <pc:docMk/>
          <pc:sldMk cId="0" sldId="258"/>
        </pc:sldMkLst>
        <pc:spChg chg="mod">
          <ac:chgData name="Aarham ." userId="2e47c01609e708b3" providerId="LiveId" clId="{F2BB2195-8DFB-458B-861D-1FBA3D9D303E}" dt="2026-05-20T14:24:02.237" v="37" actId="20577"/>
          <ac:spMkLst>
            <pc:docMk/>
            <pc:sldMk cId="0" sldId="258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Coffee%20sales/coffee_Orders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Coffee%20sales/coffee_Orders_Data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Coffee%20sales/coffee_Order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Coffee%20sales/coffee_Order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Coffee%20sales/coffee_Order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[coffee_Orders_Data.xlsx]Sales over time!PivotTable2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Sales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'Sales over time'!$C$3:$C$4</c:f>
              <c:strCache>
                <c:ptCount val="1"/>
                <c:pt idx="0">
                  <c:v>Blonde</c:v>
                </c:pt>
              </c:strCache>
            </c:strRef>
          </c:tx>
          <c:spPr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multiLvlStrRef>
              <c:f>'Sales over time'!$A$5:$B$48</c:f>
              <c:multiLvlStrCache>
                <c:ptCount val="4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2022</c:v>
                  </c:pt>
                </c:lvl>
              </c:multiLvlStrCache>
            </c:multiLvlStrRef>
          </c:cat>
          <c:val>
            <c:numRef>
              <c:f>'Sales over time'!$C$5:$C$48</c:f>
              <c:numCache>
                <c:formatCode>0.00</c:formatCode>
                <c:ptCount val="44"/>
                <c:pt idx="0">
                  <c:v>305.97000000000003</c:v>
                </c:pt>
                <c:pt idx="1">
                  <c:v>129.46</c:v>
                </c:pt>
                <c:pt idx="2">
                  <c:v>349.12</c:v>
                </c:pt>
                <c:pt idx="3">
                  <c:v>681.07499999999993</c:v>
                </c:pt>
                <c:pt idx="4">
                  <c:v>83.025000000000006</c:v>
                </c:pt>
                <c:pt idx="5">
                  <c:v>678.3599999999999</c:v>
                </c:pt>
                <c:pt idx="6">
                  <c:v>273.86999999999995</c:v>
                </c:pt>
                <c:pt idx="7">
                  <c:v>70.95</c:v>
                </c:pt>
                <c:pt idx="8">
                  <c:v>166.1</c:v>
                </c:pt>
                <c:pt idx="9">
                  <c:v>153.76499999999999</c:v>
                </c:pt>
                <c:pt idx="10">
                  <c:v>63.249999999999993</c:v>
                </c:pt>
                <c:pt idx="11">
                  <c:v>526.51499999999987</c:v>
                </c:pt>
                <c:pt idx="12">
                  <c:v>65.805000000000007</c:v>
                </c:pt>
                <c:pt idx="13">
                  <c:v>428.88499999999999</c:v>
                </c:pt>
                <c:pt idx="14">
                  <c:v>271.48500000000001</c:v>
                </c:pt>
                <c:pt idx="15">
                  <c:v>347.26</c:v>
                </c:pt>
                <c:pt idx="16">
                  <c:v>541.73</c:v>
                </c:pt>
                <c:pt idx="17">
                  <c:v>357.42999999999995</c:v>
                </c:pt>
                <c:pt idx="18">
                  <c:v>227.42500000000001</c:v>
                </c:pt>
                <c:pt idx="19">
                  <c:v>77.72</c:v>
                </c:pt>
                <c:pt idx="20">
                  <c:v>195.11</c:v>
                </c:pt>
                <c:pt idx="21">
                  <c:v>523.24</c:v>
                </c:pt>
                <c:pt idx="22">
                  <c:v>142.56</c:v>
                </c:pt>
                <c:pt idx="23">
                  <c:v>484.76</c:v>
                </c:pt>
                <c:pt idx="24">
                  <c:v>139.625</c:v>
                </c:pt>
                <c:pt idx="25">
                  <c:v>284.24999999999994</c:v>
                </c:pt>
                <c:pt idx="26">
                  <c:v>468.125</c:v>
                </c:pt>
                <c:pt idx="27">
                  <c:v>242.14000000000001</c:v>
                </c:pt>
                <c:pt idx="28">
                  <c:v>133.08000000000001</c:v>
                </c:pt>
                <c:pt idx="29">
                  <c:v>136.20500000000001</c:v>
                </c:pt>
                <c:pt idx="30">
                  <c:v>393.57499999999999</c:v>
                </c:pt>
                <c:pt idx="31">
                  <c:v>288.67</c:v>
                </c:pt>
                <c:pt idx="32">
                  <c:v>409.875</c:v>
                </c:pt>
                <c:pt idx="33">
                  <c:v>260.32499999999999</c:v>
                </c:pt>
                <c:pt idx="34">
                  <c:v>565.57000000000005</c:v>
                </c:pt>
                <c:pt idx="35">
                  <c:v>148.19999999999999</c:v>
                </c:pt>
                <c:pt idx="36">
                  <c:v>166.32</c:v>
                </c:pt>
                <c:pt idx="37">
                  <c:v>133.815</c:v>
                </c:pt>
                <c:pt idx="38">
                  <c:v>175.41</c:v>
                </c:pt>
                <c:pt idx="39">
                  <c:v>289.755</c:v>
                </c:pt>
                <c:pt idx="40">
                  <c:v>212.49499999999998</c:v>
                </c:pt>
                <c:pt idx="41">
                  <c:v>426.2</c:v>
                </c:pt>
                <c:pt idx="42">
                  <c:v>246.685</c:v>
                </c:pt>
                <c:pt idx="43">
                  <c:v>41.25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24-4479-9E58-6B918CF20141}"/>
            </c:ext>
          </c:extLst>
        </c:ser>
        <c:ser>
          <c:idx val="1"/>
          <c:order val="1"/>
          <c:tx>
            <c:strRef>
              <c:f>'Sales over time'!$D$3:$D$4</c:f>
              <c:strCache>
                <c:ptCount val="1"/>
                <c:pt idx="0">
                  <c:v>Columbia</c:v>
                </c:pt>
              </c:strCache>
            </c:strRef>
          </c:tx>
          <c:spPr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multiLvlStrRef>
              <c:f>'Sales over time'!$A$5:$B$48</c:f>
              <c:multiLvlStrCache>
                <c:ptCount val="4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2022</c:v>
                  </c:pt>
                </c:lvl>
              </c:multiLvlStrCache>
            </c:multiLvlStrRef>
          </c:cat>
          <c:val>
            <c:numRef>
              <c:f>'Sales over time'!$D$5:$D$48</c:f>
              <c:numCache>
                <c:formatCode>0.00</c:formatCode>
                <c:ptCount val="44"/>
                <c:pt idx="0">
                  <c:v>186.85499999999999</c:v>
                </c:pt>
                <c:pt idx="1">
                  <c:v>251.96499999999997</c:v>
                </c:pt>
                <c:pt idx="2">
                  <c:v>224.94499999999999</c:v>
                </c:pt>
                <c:pt idx="3">
                  <c:v>307.12</c:v>
                </c:pt>
                <c:pt idx="4">
                  <c:v>53.664999999999992</c:v>
                </c:pt>
                <c:pt idx="5">
                  <c:v>163.01999999999998</c:v>
                </c:pt>
                <c:pt idx="6">
                  <c:v>345.02</c:v>
                </c:pt>
                <c:pt idx="7">
                  <c:v>334.89</c:v>
                </c:pt>
                <c:pt idx="8">
                  <c:v>178.70999999999998</c:v>
                </c:pt>
                <c:pt idx="9">
                  <c:v>301.98500000000001</c:v>
                </c:pt>
                <c:pt idx="10">
                  <c:v>312.83499999999998</c:v>
                </c:pt>
                <c:pt idx="11">
                  <c:v>265.62</c:v>
                </c:pt>
                <c:pt idx="12">
                  <c:v>47.25</c:v>
                </c:pt>
                <c:pt idx="13">
                  <c:v>745.44999999999993</c:v>
                </c:pt>
                <c:pt idx="14">
                  <c:v>130.47</c:v>
                </c:pt>
                <c:pt idx="15">
                  <c:v>27</c:v>
                </c:pt>
                <c:pt idx="16">
                  <c:v>255.11499999999995</c:v>
                </c:pt>
                <c:pt idx="17">
                  <c:v>584.78999999999985</c:v>
                </c:pt>
                <c:pt idx="18">
                  <c:v>430.62</c:v>
                </c:pt>
                <c:pt idx="19">
                  <c:v>22.5</c:v>
                </c:pt>
                <c:pt idx="20">
                  <c:v>126.14999999999999</c:v>
                </c:pt>
                <c:pt idx="21">
                  <c:v>376.03</c:v>
                </c:pt>
                <c:pt idx="22">
                  <c:v>515.17999999999995</c:v>
                </c:pt>
                <c:pt idx="23">
                  <c:v>95.859999999999985</c:v>
                </c:pt>
                <c:pt idx="24">
                  <c:v>258.34500000000003</c:v>
                </c:pt>
                <c:pt idx="25">
                  <c:v>342.2</c:v>
                </c:pt>
                <c:pt idx="26">
                  <c:v>418.30499999999989</c:v>
                </c:pt>
                <c:pt idx="27">
                  <c:v>102.32999999999998</c:v>
                </c:pt>
                <c:pt idx="28">
                  <c:v>234.71999999999997</c:v>
                </c:pt>
                <c:pt idx="29">
                  <c:v>430.39</c:v>
                </c:pt>
                <c:pt idx="30">
                  <c:v>109.005</c:v>
                </c:pt>
                <c:pt idx="31">
                  <c:v>287.52499999999998</c:v>
                </c:pt>
                <c:pt idx="32">
                  <c:v>840.92999999999984</c:v>
                </c:pt>
                <c:pt idx="33">
                  <c:v>299.07</c:v>
                </c:pt>
                <c:pt idx="34">
                  <c:v>323.32499999999999</c:v>
                </c:pt>
                <c:pt idx="35">
                  <c:v>399.48499999999996</c:v>
                </c:pt>
                <c:pt idx="36">
                  <c:v>112.69499999999999</c:v>
                </c:pt>
                <c:pt idx="37">
                  <c:v>114.87999999999998</c:v>
                </c:pt>
                <c:pt idx="38">
                  <c:v>277.76</c:v>
                </c:pt>
                <c:pt idx="39">
                  <c:v>197.89499999999998</c:v>
                </c:pt>
                <c:pt idx="40">
                  <c:v>193.11499999999998</c:v>
                </c:pt>
                <c:pt idx="41">
                  <c:v>179.79</c:v>
                </c:pt>
                <c:pt idx="42">
                  <c:v>247.28999999999996</c:v>
                </c:pt>
                <c:pt idx="43">
                  <c:v>116.39499999999998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24-4479-9E58-6B918CF20141}"/>
            </c:ext>
          </c:extLst>
        </c:ser>
        <c:ser>
          <c:idx val="2"/>
          <c:order val="2"/>
          <c:tx>
            <c:strRef>
              <c:f>'Sales over time'!$E$3:$E$4</c:f>
              <c:strCache>
                <c:ptCount val="1"/>
                <c:pt idx="0">
                  <c:v>Espresso</c:v>
                </c:pt>
              </c:strCache>
            </c:strRef>
          </c:tx>
          <c:spPr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multiLvlStrRef>
              <c:f>'Sales over time'!$A$5:$B$48</c:f>
              <c:multiLvlStrCache>
                <c:ptCount val="4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2022</c:v>
                  </c:pt>
                </c:lvl>
              </c:multiLvlStrCache>
            </c:multiLvlStrRef>
          </c:cat>
          <c:val>
            <c:numRef>
              <c:f>'Sales over time'!$E$5:$E$48</c:f>
              <c:numCache>
                <c:formatCode>0.00</c:formatCode>
                <c:ptCount val="44"/>
                <c:pt idx="0">
                  <c:v>123</c:v>
                </c:pt>
                <c:pt idx="1">
                  <c:v>171.93999999999997</c:v>
                </c:pt>
                <c:pt idx="2">
                  <c:v>126.035</c:v>
                </c:pt>
                <c:pt idx="3">
                  <c:v>158.85</c:v>
                </c:pt>
                <c:pt idx="4">
                  <c:v>68.039999999999992</c:v>
                </c:pt>
                <c:pt idx="5">
                  <c:v>372.255</c:v>
                </c:pt>
                <c:pt idx="6">
                  <c:v>201.11499999999998</c:v>
                </c:pt>
                <c:pt idx="7">
                  <c:v>166.27499999999998</c:v>
                </c:pt>
                <c:pt idx="8">
                  <c:v>492.9</c:v>
                </c:pt>
                <c:pt idx="9">
                  <c:v>213.66499999999999</c:v>
                </c:pt>
                <c:pt idx="10">
                  <c:v>96.405000000000001</c:v>
                </c:pt>
                <c:pt idx="11">
                  <c:v>210.58999999999997</c:v>
                </c:pt>
                <c:pt idx="12">
                  <c:v>179.22</c:v>
                </c:pt>
                <c:pt idx="13">
                  <c:v>429.82999999999993</c:v>
                </c:pt>
                <c:pt idx="14">
                  <c:v>231.63000000000002</c:v>
                </c:pt>
                <c:pt idx="15">
                  <c:v>240.04</c:v>
                </c:pt>
                <c:pt idx="16">
                  <c:v>59.079999999999991</c:v>
                </c:pt>
                <c:pt idx="17">
                  <c:v>140.88</c:v>
                </c:pt>
                <c:pt idx="18">
                  <c:v>414.58499999999992</c:v>
                </c:pt>
                <c:pt idx="19">
                  <c:v>139.67999999999998</c:v>
                </c:pt>
                <c:pt idx="20">
                  <c:v>302.65999999999997</c:v>
                </c:pt>
                <c:pt idx="21">
                  <c:v>174.46999999999997</c:v>
                </c:pt>
                <c:pt idx="22">
                  <c:v>104.08499999999999</c:v>
                </c:pt>
                <c:pt idx="23">
                  <c:v>77.10499999999999</c:v>
                </c:pt>
                <c:pt idx="24">
                  <c:v>160.19499999999999</c:v>
                </c:pt>
                <c:pt idx="25">
                  <c:v>80.550000000000011</c:v>
                </c:pt>
                <c:pt idx="26">
                  <c:v>253.15499999999997</c:v>
                </c:pt>
                <c:pt idx="27">
                  <c:v>106.23999999999998</c:v>
                </c:pt>
                <c:pt idx="28">
                  <c:v>272.68999999999994</c:v>
                </c:pt>
                <c:pt idx="29">
                  <c:v>88.334999999999994</c:v>
                </c:pt>
                <c:pt idx="30">
                  <c:v>199.48999999999998</c:v>
                </c:pt>
                <c:pt idx="31">
                  <c:v>374.13499999999999</c:v>
                </c:pt>
                <c:pt idx="32">
                  <c:v>221.43999999999997</c:v>
                </c:pt>
                <c:pt idx="33">
                  <c:v>256.36500000000001</c:v>
                </c:pt>
                <c:pt idx="34">
                  <c:v>189.47499999999999</c:v>
                </c:pt>
                <c:pt idx="35">
                  <c:v>212.07499999999999</c:v>
                </c:pt>
                <c:pt idx="36">
                  <c:v>146.685</c:v>
                </c:pt>
                <c:pt idx="37">
                  <c:v>53.759999999999991</c:v>
                </c:pt>
                <c:pt idx="38">
                  <c:v>399.52499999999998</c:v>
                </c:pt>
                <c:pt idx="39">
                  <c:v>200.25499999999997</c:v>
                </c:pt>
                <c:pt idx="40">
                  <c:v>304.46999999999997</c:v>
                </c:pt>
                <c:pt idx="41">
                  <c:v>379.31</c:v>
                </c:pt>
                <c:pt idx="42">
                  <c:v>141.69999999999999</c:v>
                </c:pt>
                <c:pt idx="43">
                  <c:v>71.06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24-4479-9E58-6B918CF20141}"/>
            </c:ext>
          </c:extLst>
        </c:ser>
        <c:ser>
          <c:idx val="3"/>
          <c:order val="3"/>
          <c:tx>
            <c:strRef>
              <c:f>'Sales over time'!$F$3:$F$4</c:f>
              <c:strCache>
                <c:ptCount val="1"/>
                <c:pt idx="0">
                  <c:v>Guatemala</c:v>
                </c:pt>
              </c:strCache>
            </c:strRef>
          </c:tx>
          <c:spPr>
            <a:ln w="1270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multiLvlStrRef>
              <c:f>'Sales over time'!$A$5:$B$48</c:f>
              <c:multiLvlStrCache>
                <c:ptCount val="4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2022</c:v>
                  </c:pt>
                </c:lvl>
              </c:multiLvlStrCache>
            </c:multiLvlStrRef>
          </c:cat>
          <c:val>
            <c:numRef>
              <c:f>'Sales over time'!$F$5:$F$48</c:f>
              <c:numCache>
                <c:formatCode>0.00</c:formatCode>
                <c:ptCount val="44"/>
                <c:pt idx="0">
                  <c:v>213.15999999999997</c:v>
                </c:pt>
                <c:pt idx="1">
                  <c:v>434.03999999999996</c:v>
                </c:pt>
                <c:pt idx="2">
                  <c:v>321.04000000000002</c:v>
                </c:pt>
                <c:pt idx="3">
                  <c:v>533.70499999999993</c:v>
                </c:pt>
                <c:pt idx="4">
                  <c:v>193.83499999999998</c:v>
                </c:pt>
                <c:pt idx="5">
                  <c:v>171.04500000000002</c:v>
                </c:pt>
                <c:pt idx="6">
                  <c:v>184.12999999999997</c:v>
                </c:pt>
                <c:pt idx="7">
                  <c:v>134.23000000000002</c:v>
                </c:pt>
                <c:pt idx="8">
                  <c:v>439.30999999999995</c:v>
                </c:pt>
                <c:pt idx="9">
                  <c:v>215.55499999999998</c:v>
                </c:pt>
                <c:pt idx="10">
                  <c:v>350.89500000000004</c:v>
                </c:pt>
                <c:pt idx="11">
                  <c:v>187.06</c:v>
                </c:pt>
                <c:pt idx="12">
                  <c:v>274.67500000000001</c:v>
                </c:pt>
                <c:pt idx="13">
                  <c:v>194.17499999999998</c:v>
                </c:pt>
                <c:pt idx="14">
                  <c:v>281.20499999999998</c:v>
                </c:pt>
                <c:pt idx="15">
                  <c:v>147.51</c:v>
                </c:pt>
                <c:pt idx="16">
                  <c:v>83.43</c:v>
                </c:pt>
                <c:pt idx="17">
                  <c:v>355.34</c:v>
                </c:pt>
                <c:pt idx="18">
                  <c:v>236.315</c:v>
                </c:pt>
                <c:pt idx="19">
                  <c:v>60.5</c:v>
                </c:pt>
                <c:pt idx="20">
                  <c:v>89.13</c:v>
                </c:pt>
                <c:pt idx="21">
                  <c:v>440.96499999999997</c:v>
                </c:pt>
                <c:pt idx="22">
                  <c:v>347.03999999999996</c:v>
                </c:pt>
                <c:pt idx="23">
                  <c:v>94.17</c:v>
                </c:pt>
                <c:pt idx="24">
                  <c:v>279.52000000000004</c:v>
                </c:pt>
                <c:pt idx="25">
                  <c:v>251.83</c:v>
                </c:pt>
                <c:pt idx="26">
                  <c:v>405.05500000000006</c:v>
                </c:pt>
                <c:pt idx="27">
                  <c:v>554.875</c:v>
                </c:pt>
                <c:pt idx="28">
                  <c:v>267.2</c:v>
                </c:pt>
                <c:pt idx="29">
                  <c:v>209.6</c:v>
                </c:pt>
                <c:pt idx="30">
                  <c:v>61.034999999999997</c:v>
                </c:pt>
                <c:pt idx="31">
                  <c:v>125.58</c:v>
                </c:pt>
                <c:pt idx="32">
                  <c:v>171.32999999999998</c:v>
                </c:pt>
                <c:pt idx="33">
                  <c:v>584.64</c:v>
                </c:pt>
                <c:pt idx="34">
                  <c:v>537.80999999999995</c:v>
                </c:pt>
                <c:pt idx="35">
                  <c:v>388.21999999999997</c:v>
                </c:pt>
                <c:pt idx="36">
                  <c:v>843.71499999999992</c:v>
                </c:pt>
                <c:pt idx="37">
                  <c:v>91.175000000000011</c:v>
                </c:pt>
                <c:pt idx="38">
                  <c:v>462.50999999999993</c:v>
                </c:pt>
                <c:pt idx="39">
                  <c:v>88.545000000000002</c:v>
                </c:pt>
                <c:pt idx="40">
                  <c:v>292.29000000000002</c:v>
                </c:pt>
                <c:pt idx="41">
                  <c:v>170.08999999999997</c:v>
                </c:pt>
                <c:pt idx="42">
                  <c:v>271.05499999999995</c:v>
                </c:pt>
                <c:pt idx="43">
                  <c:v>15.54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D24-4479-9E58-6B918CF20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4426511"/>
        <c:axId val="2064432271"/>
      </c:lineChart>
      <c:catAx>
        <c:axId val="206442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4432271"/>
        <c:crosses val="autoZero"/>
        <c:auto val="1"/>
        <c:lblAlgn val="ctr"/>
        <c:lblOffset val="100"/>
        <c:noMultiLvlLbl val="0"/>
      </c:catAx>
      <c:valAx>
        <c:axId val="20644322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442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bg1"/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 b="0" cap="none" spc="0">
          <a:ln w="0"/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[coffee_Orders_Data.xlsx]Coffee type !PivotTable3</c:name>
    <c:fmtId val="6"/>
  </c:pivotSource>
  <c:chart>
    <c:autoTitleDeleted val="1"/>
    <c:pivotFmts>
      <c:pivotFmt>
        <c:idx val="0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41972081425044E-2"/>
          <c:y val="0.11805555555555555"/>
          <c:w val="0.88327404798084452"/>
          <c:h val="0.807627405949256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'Coffee type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'Coffee type '!$A$4:$A$7</c:f>
              <c:strCache>
                <c:ptCount val="4"/>
                <c:pt idx="0">
                  <c:v>Espresso</c:v>
                </c:pt>
                <c:pt idx="1">
                  <c:v>Columbia</c:v>
                </c:pt>
                <c:pt idx="2">
                  <c:v>Guatemala</c:v>
                </c:pt>
                <c:pt idx="3">
                  <c:v>Blonde</c:v>
                </c:pt>
              </c:strCache>
            </c:strRef>
          </c:cat>
          <c:val>
            <c:numRef>
              <c:f>'Coffee type '!$B$4:$B$7</c:f>
              <c:numCache>
                <c:formatCode>0.00</c:formatCode>
                <c:ptCount val="4"/>
                <c:pt idx="0">
                  <c:v>9005.2450000000099</c:v>
                </c:pt>
                <c:pt idx="1">
                  <c:v>11768.494999999997</c:v>
                </c:pt>
                <c:pt idx="2">
                  <c:v>12054.074999999995</c:v>
                </c:pt>
                <c:pt idx="3">
                  <c:v>12306.439999999995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6-405D-B3F8-36810DCBFA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09099296"/>
        <c:axId val="709094496"/>
      </c:barChart>
      <c:catAx>
        <c:axId val="709099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094496"/>
        <c:crosses val="autoZero"/>
        <c:auto val="1"/>
        <c:lblAlgn val="ctr"/>
        <c:lblOffset val="100"/>
        <c:noMultiLvlLbl val="0"/>
      </c:catAx>
      <c:valAx>
        <c:axId val="7090944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09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[coffee_Orders_Data.xlsx]Revenue per Bag size 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Size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1111111111112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16666666666667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9444444444444448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9444444444444448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1111111111112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16666666666667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9444444444444448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1111111111112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16666666666667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9444444444444448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1111111111112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16666666666667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9444444444444448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1111111111112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16666666666667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'Revenue per Bag size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</c:spPr>
          <c:dPt>
            <c:idx val="0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5E5-46A5-AB3E-001AD39C5EC9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5E5-46A5-AB3E-001AD39C5EC9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5E5-46A5-AB3E-001AD39C5EC9}"/>
              </c:ext>
            </c:extLst>
          </c:dPt>
          <c:dPt>
            <c:idx val="3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5E5-46A5-AB3E-001AD39C5EC9}"/>
              </c:ext>
            </c:extLst>
          </c:dPt>
          <c:dLbls>
            <c:dLbl>
              <c:idx val="0"/>
              <c:layout>
                <c:manualLayout>
                  <c:x val="6.9444444444444448E-2"/>
                  <c:y val="3.2407407407407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E5-46A5-AB3E-001AD39C5EC9}"/>
                </c:ext>
              </c:extLst>
            </c:dLbl>
            <c:dLbl>
              <c:idx val="1"/>
              <c:layout>
                <c:manualLayout>
                  <c:x val="-0.16111111111111112"/>
                  <c:y val="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E5-46A5-AB3E-001AD39C5EC9}"/>
                </c:ext>
              </c:extLst>
            </c:dLbl>
            <c:dLbl>
              <c:idx val="2"/>
              <c:layout>
                <c:manualLayout>
                  <c:x val="-0.1000000000000000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E5-46A5-AB3E-001AD39C5EC9}"/>
                </c:ext>
              </c:extLst>
            </c:dLbl>
            <c:dLbl>
              <c:idx val="3"/>
              <c:layout>
                <c:manualLayout>
                  <c:x val="-4.166666666666672E-2"/>
                  <c:y val="-0.101851851851851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E5-46A5-AB3E-001AD39C5E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per Bag size '!$A$4:$A$7</c:f>
              <c:strCache>
                <c:ptCount val="4"/>
                <c:pt idx="0">
                  <c:v>2.5</c:v>
                </c:pt>
                <c:pt idx="1">
                  <c:v>1</c:v>
                </c:pt>
                <c:pt idx="2">
                  <c:v>0.5</c:v>
                </c:pt>
                <c:pt idx="3">
                  <c:v>0.2</c:v>
                </c:pt>
              </c:strCache>
            </c:strRef>
          </c:cat>
          <c:val>
            <c:numRef>
              <c:f>'Revenue per Bag size '!$B$4:$B$7</c:f>
              <c:numCache>
                <c:formatCode>0%</c:formatCode>
                <c:ptCount val="4"/>
                <c:pt idx="0">
                  <c:v>0.52699584827532842</c:v>
                </c:pt>
                <c:pt idx="1">
                  <c:v>0.24395550563535415</c:v>
                </c:pt>
                <c:pt idx="2">
                  <c:v>0.15575730672855922</c:v>
                </c:pt>
                <c:pt idx="3">
                  <c:v>7.3291339360758281E-2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E5-46A5-AB3E-001AD39C5E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[coffee_Orders_Data.xlsx]sales per Emirates!PivotTable4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Distribution by Emirate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11111111111111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9.259259259259261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CBC8C06-F33E-442F-B1EF-53A453F41A83}" type="VALUE">
                  <a:rPr lang="en-US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AE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4444444444444442E-2"/>
              <c:y val="3.240740740740723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9.259259259259261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CBC8C06-F33E-442F-B1EF-53A453F41A83}" type="VALUE">
                  <a:rPr lang="en-US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AE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11111111111111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4444444444444442E-2"/>
              <c:y val="3.240740740740723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9.259259259259261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CBC8C06-F33E-442F-B1EF-53A453F41A83}" type="VALUE">
                  <a:rPr lang="en-US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AE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11111111111111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4444444444444442E-2"/>
              <c:y val="3.240740740740723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9.259259259259261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CBC8C06-F33E-442F-B1EF-53A453F41A83}" type="VALUE">
                  <a:rPr lang="en-US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AE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11111111111111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4444444444444442E-2"/>
              <c:y val="3.240740740740723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9.2592592592592615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CBC8C06-F33E-442F-B1EF-53A453F41A83}" type="VALUE">
                  <a:rPr lang="en-US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AE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8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11111111111111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lumMod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4444444444444442E-2"/>
              <c:y val="3.240740740740723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'sales per Emirates'!$B$3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</c:spPr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27-4112-8DAD-72E4EECF87ED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27-4112-8DAD-72E4EECF87ED}"/>
              </c:ext>
            </c:extLst>
          </c:dPt>
          <c:dPt>
            <c:idx val="2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27-4112-8DAD-72E4EECF87ED}"/>
              </c:ext>
            </c:extLst>
          </c:dPt>
          <c:dLbls>
            <c:dLbl>
              <c:idx val="0"/>
              <c:layout>
                <c:manualLayout>
                  <c:x val="5.5555555555555558E-3"/>
                  <c:y val="-9.2592592592592615E-2"/>
                </c:manualLayout>
              </c:layout>
              <c:tx>
                <c:rich>
                  <a:bodyPr/>
                  <a:lstStyle/>
                  <a:p>
                    <a:fld id="{4CBC8C06-F33E-442F-B1EF-53A453F41A83}" type="VALUE">
                      <a:rPr lang="en-US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pPr/>
                      <a:t>[VALUE]</a:t>
                    </a:fld>
                    <a:endParaRPr lang="en-AE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227-4112-8DAD-72E4EECF87ED}"/>
                </c:ext>
              </c:extLst>
            </c:dLbl>
            <c:dLbl>
              <c:idx val="1"/>
              <c:layout>
                <c:manualLayout>
                  <c:x val="8.611111111111111E-2"/>
                  <c:y val="-1.38888888888888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27-4112-8DAD-72E4EECF87ED}"/>
                </c:ext>
              </c:extLst>
            </c:dLbl>
            <c:dLbl>
              <c:idx val="2"/>
              <c:layout>
                <c:manualLayout>
                  <c:x val="-9.4444444444444442E-2"/>
                  <c:y val="3.240740740740723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27-4112-8DAD-72E4EECF87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'sales per Emirates'!$A$4:$A$6</c:f>
              <c:strCache>
                <c:ptCount val="3"/>
                <c:pt idx="0">
                  <c:v>Abu Dhabi</c:v>
                </c:pt>
                <c:pt idx="1">
                  <c:v>Sharjah</c:v>
                </c:pt>
                <c:pt idx="2">
                  <c:v>Dubai</c:v>
                </c:pt>
              </c:strCache>
            </c:strRef>
          </c:cat>
          <c:val>
            <c:numRef>
              <c:f>'sales per Emirates'!$B$4:$B$6</c:f>
              <c:numCache>
                <c:formatCode>0.0%</c:formatCode>
                <c:ptCount val="3"/>
                <c:pt idx="0">
                  <c:v>6.2004014467503712E-2</c:v>
                </c:pt>
                <c:pt idx="1">
                  <c:v>0.14837654903132891</c:v>
                </c:pt>
                <c:pt idx="2">
                  <c:v>0.7896194365011675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27-4112-8DAD-72E4EECF87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Top 5 customer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15-4C27-BF0F-5539A03ACA3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715-4C27-BF0F-5539A03ACA3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715-4C27-BF0F-5539A03ACA3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715-4C27-BF0F-5539A03ACA3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715-4C27-BF0F-5539A03ACA3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Don Flintiff</c:v>
              </c:pt>
              <c:pt idx="1">
                <c:v>Nealson Cuttler</c:v>
              </c:pt>
              <c:pt idx="2">
                <c:v>Terri Farra</c:v>
              </c:pt>
              <c:pt idx="3">
                <c:v>Brenn Dundredge</c:v>
              </c:pt>
              <c:pt idx="4">
                <c:v>Allis Wilmore</c:v>
              </c:pt>
            </c:strLit>
          </c:cat>
          <c:val>
            <c:numLit>
              <c:formatCode>General</c:formatCode>
              <c:ptCount val="5"/>
              <c:pt idx="0">
                <c:v>278.01</c:v>
              </c:pt>
              <c:pt idx="1">
                <c:v>281.67499999999995</c:v>
              </c:pt>
              <c:pt idx="2">
                <c:v>289.11</c:v>
              </c:pt>
              <c:pt idx="3">
                <c:v>307.04499999999996</c:v>
              </c:pt>
              <c:pt idx="4">
                <c:v>317.06999999999994</c:v>
              </c:pt>
            </c:numLit>
          </c:val>
          <c:extLst>
            <c:ext xmlns:c16="http://schemas.microsoft.com/office/drawing/2014/chart" uri="{C3380CC4-5D6E-409C-BE32-E72D297353CC}">
              <c16:uniqueId val="{0000000A-6715-4C27-BF0F-5539A03ACA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05731872"/>
        <c:axId val="605724192"/>
      </c:barChart>
      <c:catAx>
        <c:axId val="605731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724192"/>
        <c:crosses val="autoZero"/>
        <c:auto val="1"/>
        <c:lblAlgn val="ctr"/>
        <c:lblOffset val="100"/>
        <c:noMultiLvlLbl val="0"/>
      </c:catAx>
      <c:valAx>
        <c:axId val="605724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73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0.32348</cdr:x>
      <cdr:y>2.73403E-7</cdr:y>
    </cdr:from>
    <cdr:to>
      <cdr:x>0.55506</cdr:x>
      <cdr:y>0.08625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DA6CEFD1-4ABA-FA8C-BAD6-920E5E48CA5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922422" y="1"/>
          <a:ext cx="2092148" cy="31546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10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365760"/>
            <a:ext cx="3840480" cy="3840480"/>
          </a:xfrm>
          <a:prstGeom prst="ellipse">
            <a:avLst/>
          </a:prstGeom>
          <a:solidFill>
            <a:srgbClr val="388E3C">
              <a:alpha val="4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548640"/>
            <a:ext cx="2194560" cy="2194560"/>
          </a:xfrm>
          <a:prstGeom prst="ellipse">
            <a:avLst/>
          </a:prstGeom>
          <a:solidFill>
            <a:srgbClr val="F9A825">
              <a:alpha val="2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388E3C">
              <a:alpha val="3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411480" y="2395728"/>
            <a:ext cx="841248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420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Sales Review  ·  2019 – 2022  ·  UAE Market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Buruhani Mutebi  | 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144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905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2618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KPIs and business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41248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9144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6088" y="905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088" y="12618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trends by coffee type (2019–2022)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0240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9933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" y="19842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Type &amp; Roast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3408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product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20240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9933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76088" y="19842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76088" y="23408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bag sizes drive the most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99232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0723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" y="3063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4198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split across Dubai, Sharjah, and Abu Dhabi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999232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99232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30723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76088" y="3063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34198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highest-value customers by total spend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78224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78224"/>
            <a:ext cx="6400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415137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41248" y="41422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44988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suggested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KPIs · 2019–2022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is conducted at the request of the Sales Manager to evaluate product performance, geographic concentration, and customer value across a 4-year period (Jan 2019 – Aug 2022).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29968" cy="1389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087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45,134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 – Aug 2022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2029968" cy="13898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5087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product 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417320"/>
            <a:ext cx="2029968" cy="138988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5087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45.13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6864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03136" y="1417320"/>
            <a:ext cx="2029968" cy="138988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5087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3136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Coffee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12,306 in total sales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44368"/>
            <a:ext cx="54864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13% from 2019 to 2021 (AED 12,187 → AED 13,766) before 2022 partial-year data shows AED 7,063 on pace to match prior years.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02736"/>
            <a:ext cx="54864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30168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represents 79% of total sales (AED 35,639) — creating both a concentration risk and a natural base for targeted marketing campaigns.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26110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261104"/>
            <a:ext cx="54864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88536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2.5kg bag size accounts for 52.7% of all revenue — bulk buyers are the core customer segment and should be prioritised in promotions.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HAVE SALES TRENDED OVER TIME?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by Coffee Type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2022 covers January–August only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90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2021 was the strongest year on record at AED 13,766 — driven by Columbia (+20%) and Guatemala (+47%) vs 2020.</a:t>
            </a:r>
            <a:endParaRPr lang="en-US" sz="1000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91A9680-337E-46AC-8CB9-998797449C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875280"/>
              </p:ext>
            </p:extLst>
          </p:nvPr>
        </p:nvGraphicFramePr>
        <p:xfrm>
          <a:off x="274319" y="704088"/>
          <a:ext cx="8595361" cy="3706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COFFEE TYPES LEAD?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4343400"/>
            <a:ext cx="54864" cy="56692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37083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Blonde and Guatemala are neck-and-neck for top position (AED 12,306 vs AED 12,054).</a:t>
            </a:r>
            <a:endParaRPr lang="en-US" sz="1050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24C6078-CBB0-43DB-B427-7B52F70061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640501"/>
              </p:ext>
            </p:extLst>
          </p:nvPr>
        </p:nvGraphicFramePr>
        <p:xfrm>
          <a:off x="329184" y="658369"/>
          <a:ext cx="8595360" cy="3423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WHICH BAG SIZES DRIVE REVENUE?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Share by Package Size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Size (AED)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17720" y="1097280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097280"/>
            <a:ext cx="54864" cy="67665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11338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kg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36592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23,786  ·  52.7% of revenue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1280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buyers dominate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901952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901952"/>
            <a:ext cx="54864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938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kg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36592" y="2231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11,011  ·  24.4% of revenue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segment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17720" y="2706624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17720" y="2706624"/>
            <a:ext cx="54864" cy="67665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36592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7,030  ·  15.6% of revenue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2889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repeat segment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17720" y="3511296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17720" y="3511296"/>
            <a:ext cx="54864" cy="676656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547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kg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36592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3,308  ·   7.3% of revenue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49440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buyers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4343400"/>
            <a:ext cx="54864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370832"/>
            <a:ext cx="8183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revenue comes from 2.5kg bags — indicating a bulk-buyer customer base. Promotions and bundle offers targeted at this segment could directly lift average order value.</a:t>
            </a:r>
            <a:endParaRPr lang="en-US" sz="1050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E5E3BFE-0EA1-49CA-81FD-C52ECFAABA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4268605"/>
              </p:ext>
            </p:extLst>
          </p:nvPr>
        </p:nvGraphicFramePr>
        <p:xfrm>
          <a:off x="274320" y="749808"/>
          <a:ext cx="4251960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WHERE ARE OUR SALES COMING FROM?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Emirate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Emirate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4300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0" y="1252728"/>
            <a:ext cx="74980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2527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2040" y="1234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9204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35,639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819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 — strong base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225856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258568"/>
            <a:ext cx="64008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368296"/>
            <a:ext cx="74980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2368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23500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Sharjah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9204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6,697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2935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market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3374136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3374136"/>
            <a:ext cx="64008" cy="9601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01000" y="3483864"/>
            <a:ext cx="749808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01000" y="34838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6.2%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465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892040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2,799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92040" y="4050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— growth opportunity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4389120"/>
            <a:ext cx="8595360" cy="512064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Abu Dhabi contributes only 6.2% of sales. With Dubai saturated at 79%, Sharjah and Abu Dhabi represent the clearest geographic growth opportunities.</a:t>
            </a:r>
            <a:endParaRPr lang="en-US" sz="1050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9C0CC9E-D7F3-4C18-A7CF-E1AE6C9654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746578"/>
              </p:ext>
            </p:extLst>
          </p:nvPr>
        </p:nvGraphicFramePr>
        <p:xfrm>
          <a:off x="234950" y="749809"/>
          <a:ext cx="4401058" cy="3502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WHO ARE OUR MOST VALUABLE CUSTOMERS?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2160" y="749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097280"/>
            <a:ext cx="3063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097280"/>
            <a:ext cx="5486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152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4081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Allis Wilmore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1700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317.07 total spend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06440" y="2176272"/>
            <a:ext cx="3063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2176272"/>
            <a:ext cx="5486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Spread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487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7797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= 3.3% of total sales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06440" y="3255264"/>
            <a:ext cx="3063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3255264"/>
            <a:ext cx="5486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310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35661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Concentration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3858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over-reliance on single buyer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425696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4425696"/>
            <a:ext cx="54864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5312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is healthy and well distributed — a strong foundation to build a loyalty or retention programme on top of.</a:t>
            </a:r>
            <a:endParaRPr lang="en-US" sz="1050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4F2A76AC-09FC-4CEE-9E29-93EE26343B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642250"/>
              </p:ext>
            </p:extLst>
          </p:nvPr>
        </p:nvGraphicFramePr>
        <p:xfrm>
          <a:off x="274320" y="804671"/>
          <a:ext cx="5182819" cy="3503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896112"/>
            <a:ext cx="804672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8961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841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Expansion into Abu Dhabi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13385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 contributes only 6.2% of sales. Targeted marketing, distribution partnerships, or a promotional campaign could unlock significant untapped revenue in this emirate.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27632"/>
            <a:ext cx="54864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6420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" y="1737360"/>
            <a:ext cx="804672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17373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7360" y="1682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2.5kg Bulk Segment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19751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revenue comes from 2.5kg purchases. Introduce bundle deals, subscription offers, or loyalty pricing for bulk buyers to grow average order frequency.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68880"/>
            <a:ext cx="54864" cy="7132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0545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1248" y="2578608"/>
            <a:ext cx="804672" cy="219456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5786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37360" y="25237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Medium Roast Dominance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roast accounts for 53% of sales. Ensure stock availability and prioritise medium-roast variants in all promotional materials and new customer acquisition campaigns.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10128"/>
            <a:ext cx="54864" cy="7132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4670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41248" y="3419856"/>
            <a:ext cx="804672" cy="219456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41985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37360" y="33649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Dark Roast Underperformance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3657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roast generates the least revenue (AED 9,005 vs AED 23,823 for Medium). Review pricing, visibility, and customer feedback — or consider rationalising the dark roast range.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51376"/>
            <a:ext cx="54864" cy="7132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18795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41248" y="4261104"/>
            <a:ext cx="804672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4206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2021 Growth Momentum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37360" y="44988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was the strongest year at AED 13,766 (+14% vs 2020). Identify the campaigns or market conditions that drove this growth and replicate them in 2023 planning.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365760"/>
            <a:ext cx="3840480" cy="3840480"/>
          </a:xfrm>
          <a:prstGeom prst="ellipse">
            <a:avLst/>
          </a:prstGeom>
          <a:solidFill>
            <a:srgbClr val="388E3C">
              <a:alpha val="4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48640"/>
            <a:ext cx="2011680" cy="2011680"/>
          </a:xfrm>
          <a:prstGeom prst="ellipse">
            <a:avLst/>
          </a:prstGeom>
          <a:solidFill>
            <a:srgbClr val="F9A825">
              <a:alpha val="2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— one cup at a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841248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2019–2022  |  1,000 Orders Analysed  |  3 Emirates  |  4 Coffee Types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Buruhani Mutebi  |  Data </a:t>
            </a:r>
            <a:r>
              <a:rPr lang="en-US" sz="1000" dirty="0" err="1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812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Analysis 2019–2022</dc:title>
  <dc:subject>PptxGenJS Presentation</dc:subject>
  <dc:creator>PptxGenJS</dc:creator>
  <cp:lastModifiedBy>Aarham .</cp:lastModifiedBy>
  <cp:revision>2</cp:revision>
  <dcterms:created xsi:type="dcterms:W3CDTF">2026-05-16T12:16:02Z</dcterms:created>
  <dcterms:modified xsi:type="dcterms:W3CDTF">2026-05-20T14:24:56Z</dcterms:modified>
</cp:coreProperties>
</file>